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97d693c5954f4b" /><Relationship Type="http://schemas.openxmlformats.org/officeDocument/2006/relationships/extended-properties" Target="/docProps/app.xml" Id="Rd17ba35edfa44081" /><Relationship Type="http://schemas.openxmlformats.org/officeDocument/2006/relationships/officeDocument" Target="/ppt/presentation.xml" Id="R785408de55dc4c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67f19cffb4697"/>
  </p:sldMasterIdLst>
  <p:notesMasterIdLst>
    <p:notesMasterId xmlns:r="http://schemas.openxmlformats.org/officeDocument/2006/relationships" r:id="R950a947dafd2410c"/>
  </p:notesMasterIdLst>
  <p:sldIdLst>
    <p:sldId xmlns:r="http://schemas.openxmlformats.org/officeDocument/2006/relationships" id="256" r:id="R0f652af561ce4327"/>
    <p:sldId xmlns:r="http://schemas.openxmlformats.org/officeDocument/2006/relationships" id="257" r:id="R32c9a4ead9ca44ae"/>
    <p:sldId xmlns:r="http://schemas.openxmlformats.org/officeDocument/2006/relationships" id="258" r:id="R3c01f85d411848e4"/>
    <p:sldId xmlns:r="http://schemas.openxmlformats.org/officeDocument/2006/relationships" id="259" r:id="Rdf8550128b5e440e"/>
    <p:sldId xmlns:r="http://schemas.openxmlformats.org/officeDocument/2006/relationships" id="260" r:id="Re2a4543786cf4428"/>
    <p:sldId xmlns:r="http://schemas.openxmlformats.org/officeDocument/2006/relationships" id="261" r:id="Rceae5315e20b4cf8"/>
    <p:sldId xmlns:r="http://schemas.openxmlformats.org/officeDocument/2006/relationships" id="262" r:id="R461a10c290fb46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d97134b05410e" /><Relationship Type="http://schemas.openxmlformats.org/officeDocument/2006/relationships/slideMaster" Target="/ppt/slideMasters/slideMaster1.xml" Id="R1a767f19cffb4697" /><Relationship Type="http://schemas.openxmlformats.org/officeDocument/2006/relationships/notesMaster" Target="/ppt/notesMasters/notesMaster1.xml" Id="R950a947dafd2410c" /><Relationship Type="http://schemas.openxmlformats.org/officeDocument/2006/relationships/presProps" Target="/ppt/presProps.xml" Id="R08f3d9cb930c4b39" /><Relationship Type="http://schemas.openxmlformats.org/officeDocument/2006/relationships/tableStyles" Target="/ppt/tableStyles.xml" Id="R6d2109b8fc3e4deb" /><Relationship Type="http://schemas.openxmlformats.org/officeDocument/2006/relationships/slide" Target="/ppt/slides/slide1.xml" Id="R0f652af561ce4327" /><Relationship Type="http://schemas.openxmlformats.org/officeDocument/2006/relationships/slide" Target="/ppt/slides/slide2.xml" Id="R32c9a4ead9ca44ae" /><Relationship Type="http://schemas.openxmlformats.org/officeDocument/2006/relationships/slide" Target="/ppt/slides/slide3.xml" Id="R3c01f85d411848e4" /><Relationship Type="http://schemas.openxmlformats.org/officeDocument/2006/relationships/slide" Target="/ppt/slides/slide4.xml" Id="Rdf8550128b5e440e" /><Relationship Type="http://schemas.openxmlformats.org/officeDocument/2006/relationships/slide" Target="/ppt/slides/slide5.xml" Id="Re2a4543786cf4428" /><Relationship Type="http://schemas.openxmlformats.org/officeDocument/2006/relationships/slide" Target="/ppt/slides/slide6.xml" Id="Rceae5315e20b4cf8" /><Relationship Type="http://schemas.openxmlformats.org/officeDocument/2006/relationships/slide" Target="/ppt/slides/slide7.xml" Id="R461a10c290fb46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36cd5fb9b4a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1c3ca5fbc494d" /><Relationship Type="http://schemas.openxmlformats.org/officeDocument/2006/relationships/notesMaster" Target="/ppt/notesMasters/notesMaster1.xml" Id="Rdab1a226fa4b4a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c6d4350e39431f" /><Relationship Type="http://schemas.openxmlformats.org/officeDocument/2006/relationships/notesMaster" Target="/ppt/notesMasters/notesMaster1.xml" Id="R9d9efee4c28b44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979b23d5f6472d" /><Relationship Type="http://schemas.openxmlformats.org/officeDocument/2006/relationships/notesMaster" Target="/ppt/notesMasters/notesMaster1.xml" Id="R443fffe954f843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30006794c4c18" /><Relationship Type="http://schemas.openxmlformats.org/officeDocument/2006/relationships/notesMaster" Target="/ppt/notesMasters/notesMaster1.xml" Id="Raa384385ef9144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c7263381424d13" /><Relationship Type="http://schemas.openxmlformats.org/officeDocument/2006/relationships/notesMaster" Target="/ppt/notesMasters/notesMaster1.xml" Id="R74395119978e4c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bf4b66189d44fa" /><Relationship Type="http://schemas.openxmlformats.org/officeDocument/2006/relationships/notesMaster" Target="/ppt/notesMasters/notesMaster1.xml" Id="Rf30a65e4942845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7d68e07b26418d" /><Relationship Type="http://schemas.openxmlformats.org/officeDocument/2006/relationships/notesMaster" Target="/ppt/notesMasters/notesMaster1.xml" Id="R399916e8bf0e4b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 — Team and product cover.</a:t>
            </a:r>
          </a:p>
          <a:p xmlns:a="http://schemas.openxmlformats.org/drawingml/2006/main">
            <a:r>
              <a:t>Repository sources: projects/tron-a/README.md; projects/tron-a/docs/verification.md; projects/tron-a/docs/bai-verification.md.</a:t>
            </a:r>
          </a:p>
          <a:p xmlns:a="http://schemas.openxmlformats.org/drawingml/2006/main">
            <a:r>
              <a:t>Nile plan receipt: https://nile.tronscan.org/#/transaction/956b8f7ea035c816210e6f03a9c97b827069d777a8d26e92b0d6fce6a1a47bd9</a:t>
            </a:r>
          </a:p>
          <a:p xmlns:a="http://schemas.openxmlformats.org/drawingml/2006/main">
            <a:r>
              <a:t>ReceiptRegistry address: https://nile.tronscan.org/#/contract/TSqoRAmu4qviTuscsakTWdYRZQjpiTjP2u/code</a:t>
            </a:r>
          </a:p>
          <a:p xmlns:a="http://schemas.openxmlformats.org/drawingml/2006/main">
            <a:r>
              <a:t>Screenshot: projects/tron-a/docs/bai-desktop.png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 — Product overview and current evidence boundary.</a:t>
            </a:r>
          </a:p>
          <a:p xmlns:a="http://schemas.openxmlformats.org/drawingml/2006/main">
            <a:r>
              <a:t>Repository sources: projects/tron-a/README.md; projects/tron-a/docs/verification.md; projects/tron-a/docs/bai-verification.md.</a:t>
            </a:r>
          </a:p>
          <a:p xmlns:a="http://schemas.openxmlformats.org/drawingml/2006/main">
            <a:r>
              <a:t>Nile plan receipt: https://nile.tronscan.org/#/transaction/956b8f7ea035c816210e6f03a9c97b827069d777a8d26e92b0d6fce6a1a47bd9</a:t>
            </a:r>
          </a:p>
          <a:p xmlns:a="http://schemas.openxmlformats.org/drawingml/2006/main">
            <a:r>
              <a:t>ReceiptRegistry address: https://nile.tronscan.org/#/contract/TSqoRAmu4qviTuscsakTWdYRZQjpiTjP2u/code</a:t>
            </a:r>
          </a:p>
          <a:p xmlns:a="http://schemas.openxmlformats.org/drawingml/2006/main">
            <a:r>
              <a:t>Screenshot: projects/tron-a/docs/bai-live-result.png</a:t>
            </a:r>
          </a:p>
          <a:p xmlns:a="http://schemas.openxmlformats.org/drawingml/2006/main">
            <a:r>
              <a:t>Boundary: The Nile receipt commits a procurement plan. It is not an Energy rental or provider order.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 — Problem and solution.</a:t>
            </a:r>
          </a:p>
          <a:p xmlns:a="http://schemas.openxmlformats.org/drawingml/2006/main">
            <a:r>
              <a:t>Repository sources: projects/tron-a/README.md; projects/tron-a/docs/verification.md; projects/tron-a/docs/bai-verification.md.</a:t>
            </a:r>
          </a:p>
          <a:p xmlns:a="http://schemas.openxmlformats.org/drawingml/2006/main">
            <a:r>
              <a:t>Nile plan receipt: https://nile.tronscan.org/#/transaction/956b8f7ea035c816210e6f03a9c97b827069d777a8d26e92b0d6fce6a1a47bd9</a:t>
            </a:r>
          </a:p>
          <a:p xmlns:a="http://schemas.openxmlformats.org/drawingml/2006/main">
            <a:r>
              <a:t>ReceiptRegistry address: https://nile.tronscan.org/#/contract/TSqoRAmu4qviTuscsakTWdYRZQjpiTjP2u/code</a:t>
            </a:r>
          </a:p>
          <a:p xmlns:a="http://schemas.openxmlformats.org/drawingml/2006/main">
            <a:r>
              <a:t>Claims are product-scope statements derived from the repository README and verification record; no market-size estimate is asserted.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 — Product workflow.</a:t>
            </a:r>
          </a:p>
          <a:p xmlns:a="http://schemas.openxmlformats.org/drawingml/2006/main">
            <a:r>
              <a:t>Repository sources: projects/tron-a/README.md; projects/tron-a/docs/verification.md; projects/tron-a/docs/bai-verification.md.</a:t>
            </a:r>
          </a:p>
          <a:p xmlns:a="http://schemas.openxmlformats.org/drawingml/2006/main">
            <a:r>
              <a:t>Nile plan receipt: https://nile.tronscan.org/#/transaction/956b8f7ea035c816210e6f03a9c97b827069d777a8d26e92b0d6fce6a1a47bd9</a:t>
            </a:r>
          </a:p>
          <a:p xmlns:a="http://schemas.openxmlformats.org/drawingml/2006/main">
            <a:r>
              <a:t>ReceiptRegistry address: https://nile.tronscan.org/#/contract/TSqoRAmu4qviTuscsakTWdYRZQjpiTjP2u/code</a:t>
            </a:r>
          </a:p>
          <a:p xmlns:a="http://schemas.openxmlformats.org/drawingml/2006/main">
            <a:r>
              <a:t>Screenshot: projects/tron-a/docs/final-desktop.jpg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 — Technical architecture and evidence.</a:t>
            </a:r>
          </a:p>
          <a:p xmlns:a="http://schemas.openxmlformats.org/drawingml/2006/main">
            <a:r>
              <a:t>Repository sources: projects/tron-a/README.md; projects/tron-a/docs/verification.md; projects/tron-a/docs/bai-verification.md.</a:t>
            </a:r>
          </a:p>
          <a:p xmlns:a="http://schemas.openxmlformats.org/drawingml/2006/main">
            <a:r>
              <a:t>Nile plan receipt: https://nile.tronscan.org/#/transaction/956b8f7ea035c816210e6f03a9c97b827069d777a8d26e92b0d6fce6a1a47bd9</a:t>
            </a:r>
          </a:p>
          <a:p xmlns:a="http://schemas.openxmlformats.org/drawingml/2006/main">
            <a:r>
              <a:t>ReceiptRegistry address: https://nile.tronscan.org/#/contract/TSqoRAmu4qviTuscsakTWdYRZQjpiTjP2u/code</a:t>
            </a:r>
          </a:p>
          <a:p xmlns:a="http://schemas.openxmlformats.org/drawingml/2006/main">
            <a:r>
              <a:t>Screenshot: projects/tron-a/docs/bai-history-desktop.png</a:t>
            </a:r>
          </a:p>
          <a:p xmlns:a="http://schemas.openxmlformats.org/drawingml/2006/main">
            <a:r>
              <a:t>Evidence status: CONFIRMED · NILE — Plan receipt only · no rental transaction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 — Market and competitive positioning.</a:t>
            </a:r>
          </a:p>
          <a:p xmlns:a="http://schemas.openxmlformats.org/drawingml/2006/main">
            <a:r>
              <a:t>Repository sources: projects/tron-a/README.md; projects/tron-a/docs/verification.md; projects/tron-a/docs/bai-verification.md.</a:t>
            </a:r>
          </a:p>
          <a:p xmlns:a="http://schemas.openxmlformats.org/drawingml/2006/main">
            <a:r>
              <a:t>Nile plan receipt: https://nile.tronscan.org/#/transaction/956b8f7ea035c816210e6f03a9c97b827069d777a8d26e92b0d6fce6a1a47bd9</a:t>
            </a:r>
          </a:p>
          <a:p xmlns:a="http://schemas.openxmlformats.org/drawingml/2006/main">
            <a:r>
              <a:t>ReceiptRegistry address: https://nile.tronscan.org/#/contract/TSqoRAmu4qviTuscsakTWdYRZQjpiTjP2u/code</a:t>
            </a:r>
          </a:p>
          <a:p xmlns:a="http://schemas.openxmlformats.org/drawingml/2006/main">
            <a:r>
              <a:t>Comparison is qualitative and based on workflow scope. No market-size or revenue estimate is claimed.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 — Roadmap and current product boundary.</a:t>
            </a:r>
          </a:p>
          <a:p xmlns:a="http://schemas.openxmlformats.org/drawingml/2006/main">
            <a:r>
              <a:t>Repository sources: projects/tron-a/README.md; projects/tron-a/docs/verification.md; projects/tron-a/docs/bai-verification.md.</a:t>
            </a:r>
          </a:p>
          <a:p xmlns:a="http://schemas.openxmlformats.org/drawingml/2006/main">
            <a:r>
              <a:t>Nile plan receipt: https://nile.tronscan.org/#/transaction/956b8f7ea035c816210e6f03a9c97b827069d777a8d26e92b0d6fce6a1a47bd9</a:t>
            </a:r>
          </a:p>
          <a:p xmlns:a="http://schemas.openxmlformats.org/drawingml/2006/main">
            <a:r>
              <a:t>ReceiptRegistry address: https://nile.tronscan.org/#/contract/TSqoRAmu4qviTuscsakTWdYRZQjpiTjP2u/code</a:t>
            </a:r>
          </a:p>
          <a:p xmlns:a="http://schemas.openxmlformats.org/drawingml/2006/main">
            <a:r>
              <a:t>Boundary: Today: real market inputs + real Nile commitment. Energy fulfillment is not executed.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eaa718fd04f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d3c457ea54255" /><Relationship Type="http://schemas.openxmlformats.org/officeDocument/2006/relationships/slideLayout" Target="/ppt/slideLayouts/slideLayout1.xml" Id="R6de104df63514b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e104df6351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6b175ab2c4f3d" /><Relationship Type="http://schemas.openxmlformats.org/officeDocument/2006/relationships/image" Target="/ppt/media/image.png" Id="Rc6037fe5d39f426e" /><Relationship Type="http://schemas.openxmlformats.org/officeDocument/2006/relationships/notesSlide" Target="/ppt/notesSlides/notesSlide1.xml" Id="R7c35b5f0e7414b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91ff09d3f4939" /><Relationship Type="http://schemas.openxmlformats.org/officeDocument/2006/relationships/image" Target="/ppt/media/image2.png" Id="R6f001bb556914e62" /><Relationship Type="http://schemas.openxmlformats.org/officeDocument/2006/relationships/notesSlide" Target="/ppt/notesSlides/notesSlide2.xml" Id="R199db36afefe45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d8ecb27d54457" /><Relationship Type="http://schemas.openxmlformats.org/officeDocument/2006/relationships/notesSlide" Target="/ppt/notesSlides/notesSlide3.xml" Id="Rfbd81b6bf0a74d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32b514a554f99" /><Relationship Type="http://schemas.openxmlformats.org/officeDocument/2006/relationships/image" Target="/ppt/media/image.jpeg" Id="R6df38e98e03d491c" /><Relationship Type="http://schemas.openxmlformats.org/officeDocument/2006/relationships/notesSlide" Target="/ppt/notesSlides/notesSlide4.xml" Id="R6aa7b661b0bd4d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0c7cd899d4237" /><Relationship Type="http://schemas.openxmlformats.org/officeDocument/2006/relationships/image" Target="/ppt/media/image3.png" Id="Re237800f358b48e3" /><Relationship Type="http://schemas.openxmlformats.org/officeDocument/2006/relationships/notesSlide" Target="/ppt/notesSlides/notesSlide5.xml" Id="R9f057f76c53543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0e404172545ec" /><Relationship Type="http://schemas.openxmlformats.org/officeDocument/2006/relationships/notesSlide" Target="/ppt/notesSlides/notesSlide6.xml" Id="R8caa68f10e5b4e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27b91fabc43a4" /><Relationship Type="http://schemas.openxmlformats.org/officeDocument/2006/relationships/notesSlide" Target="/ppt/notesSlides/notesSlide7.xml" Id="R947c59fb92b24d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3D62F-412D-4658-824A-029D76C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57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FD532-D738-463A-939E-5658798A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DE27F-4E96-460F-8C14-1CE95DF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TRON CHALLENGE A · ENERGY RENTAL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4406A-DB36-46BF-9D05-6BB9ACF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Buy the Energy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actually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8F0A8-C145-420B-90AA-110857FA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Quote comparison and procurement evidence for TRON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42B31-78D9-4497-A45D-D64ABCB8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9525">
            <a:solidFill>
              <a:srgbClr val="D6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54232-88AD-4DBE-844A-11011DDC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SOLO BUILDER / TEAM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7C26F-02E0-4415-925B-39204A4D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GWDC 2026 KOREA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26978-E504-4C6A-8621-D6643ADF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0550"/>
            <a:ext cx="5524500" cy="56769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37fe5d39f426e"/>
          <a:srcRect xmlns:a="http://schemas.openxmlformats.org/drawingml/2006/main" l="10000" t="6000" r="3000" b="22000"/>
          <a:stretch xmlns:a="http://schemas.openxmlformats.org/drawingml/2006/main"/>
        </p:blipFill>
        <p:spPr>
          <a:xfrm xmlns:a="http://schemas.openxmlformats.org/drawingml/2006/main">
            <a:off x="6096000" y="609600"/>
            <a:ext cx="5486400" cy="5638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C1A0B-1C37-4D7B-9DDD-40263900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91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CAPTURE</a:t>
            </a:r>
          </a:p>
        </p:txBody>
      </p:sp>
    </p:spTree>
    <p:extLst>
      <p:ext uri="{BB962C8B-B14F-4D97-AF65-F5344CB8AC3E}">
        <p14:creationId xmlns:p14="http://schemas.microsoft.com/office/powerpoint/2010/main" val="1472456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CBE18-36F3-4848-971F-31D9D49B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82F06-0A81-431A-B024-7A05D35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ENERGYDESK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A19D6-EED2-485B-B011-ACD1B86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CA455-43C8-4F5C-9D1B-F2B637C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553EF-0312-4173-A7E9-FC44CF92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ENERGYDESK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9C376-B055-4856-BB2D-AA909437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02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25F39-D68C-4E55-B430-23E2E573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Live quotes become an auditable procurement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7AF04-9C08-4D49-BE15-C563625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EnergyDesk normalizes provider quotes, includes all visible costs, tests one-provider and split plans, and records the chosen plan for later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E19EE-3B25-4566-8FCF-E580FA4D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64845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01bb556914e62"/>
          <a:srcRect xmlns:a="http://schemas.openxmlformats.org/drawingml/2006/main" l="0" t="27000" r="0" b="2000"/>
          <a:stretch xmlns:a="http://schemas.openxmlformats.org/drawingml/2006/main"/>
        </p:blipFill>
        <p:spPr>
          <a:xfrm xmlns:a="http://schemas.openxmlformats.org/drawingml/2006/main">
            <a:off x="609600" y="2133600"/>
            <a:ext cx="66103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C2470-C427-49FB-A8E0-4E8D0F9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WORKING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86C49-826D-412B-81F5-FFEC298F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AEAF3-56BC-4643-91D4-1B627E23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6DF9A-84C8-4A5B-A9F9-962FC3BD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145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public quote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F04A1-7E30-4DDC-BB46-F250D9F4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527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E840E-5CF0-4605-B7B1-A609EDC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EC4AB-BC6A-4A15-9369-F3A23E6C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337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decision constraints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565FC-4B48-4F31-AE62-AED3F937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719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5F9F-6C96-42D1-A1B5-5398F93F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F0C0A-E55B-42C4-8503-B3FF41F9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528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Nile plan receipt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1124E-BB05-42CA-92AE-F962DF3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72000"/>
            <a:ext cx="3905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0CFAB-6EC1-476C-906A-7F2292D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24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15239-891B-44C9-881C-98DA150F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Nile receipt commits a procurement plan. It is not an Energy rental or provider order.</a:t>
            </a:r>
          </a:p>
        </p:txBody>
      </p:sp>
    </p:spTree>
    <p:extLst>
      <p:ext uri="{BB962C8B-B14F-4D97-AF65-F5344CB8AC3E}">
        <p14:creationId xmlns:p14="http://schemas.microsoft.com/office/powerpoint/2010/main" val="289076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9D09C-1C41-4CFE-9F08-39488C2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EDD6F-E134-4A59-BC5A-9D4F2E9E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ENERGYDESK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C5F16-0AB9-46A0-84F3-FB85C711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PROBLEM +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AAA1C-FA8C-4A0D-834E-A9CFB5D8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C878F-3722-4329-AF7A-2996EE7D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ENERGYDESK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3C0BA-5DBD-45C5-AECA-E3DEB23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03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0A27C-5720-461D-99DC-6D8E5100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62550" cy="521970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F89A7-1BB4-4A8C-854F-BD15A346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E571E-C179-4C82-ACEB-5685DA67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4324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Energy is cheap only when the quote, timing and address all agree.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1232E-58C7-47B3-859C-A715F647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F8B19-6294-492F-AB7B-7C83E152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Provider quotes expose different fee components.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B5F81-C6D7-4F54-A830-1C768D61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1A0E0-3351-4110-8690-6AF5875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A low headline price can miss delivery or address costs.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C3ED6-4C0C-4439-8C87-FD99A51D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565BF-B6EB-4A09-A8AF-3282F23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Manual comparisons leave no durable decision trail.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6C55A-51A9-40A6-8D28-D90D9B4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23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THE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2E7AD-0274-422F-A163-4FB94D7F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Normalize the whole purchase before committing.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4E9C1-7221-4CE2-B5ED-5A35C786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4BC85-8B74-437A-89B3-C17327C1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C3CB1-F5E4-4813-8FFD-789E2AA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194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Read live market inputs from two public sources.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19094-B753-416B-882E-50DCA72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455AE-0ADA-425B-8BD2-CEE435A4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5F418-5B4A-452B-AF0B-914F6C18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EB61D-9F2F-41D6-A396-CA417AF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00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Compare single-provider and split allocations under one budget.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51A86-06FB-41CB-A840-76AEE21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6D7FF-98C3-4528-8009-28045F45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9525">
            <a:solidFill>
              <a:srgbClr val="D63A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CA870-7352-4D7A-AD98-663A1BAB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96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65232-C16A-49EB-8FD6-B645BE5E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006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Commit the selected plan and assumptions to a Nile receipt.</a:t>
            </a:r>
          </a:p>
        </p:txBody>
      </p:sp>
    </p:spTree>
    <p:extLst>
      <p:ext uri="{BB962C8B-B14F-4D97-AF65-F5344CB8AC3E}">
        <p14:creationId xmlns:p14="http://schemas.microsoft.com/office/powerpoint/2010/main" val="200079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B8A84-E5F5-4616-A5DB-CE57CDEF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BEA5-DC5D-490C-808B-5C865916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ENERGYDESK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61CC-F97A-47F6-91F6-16EB6FE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040A9-620F-4023-96F7-00DD3FB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CBECB-85DA-487E-8061-E445456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ENERGYDESK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100DD-D0DE-479D-9162-F5F07967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04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36B23-C709-4BA5-8A1E-6F5E413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 four-step procurement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1D776-BB64-4AE6-980B-B66B372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Each handoff preserves the data needed for review, replay and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72385-03C4-4F70-9A89-3F40275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610350" cy="37528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38e98e03d491c"/>
          <a:srcRect xmlns:a="http://schemas.openxmlformats.org/drawingml/2006/main" l="0" t="23000" r="0" b="54000"/>
          <a:stretch xmlns:a="http://schemas.openxmlformats.org/drawingml/2006/main"/>
        </p:blipFill>
        <p:spPr>
          <a:xfrm xmlns:a="http://schemas.openxmlformats.org/drawingml/2006/main">
            <a:off x="609600" y="2114550"/>
            <a:ext cx="65722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88493-C0D6-4AAC-82C6-7E3B0C6C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048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CF045-476C-4F50-8FA2-898FDA4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COSTED RECOMMENDATION WITH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31D9C-9214-432D-975E-8155E8C7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2EBE4-9C43-4CD8-BFF1-23A5D638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6F340-0BC3-4075-98DF-85BBA20E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 amount, rental window, budget, deadline and receiver.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52973-3D46-4248-B578-E070593F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AE72D-065D-4092-AC56-16BA102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39800-5D2F-4DEC-B67C-FF422B2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BCEB6-3815-4767-8B89-6A9008E1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Fetch and timestamp public provider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ABF61-7C79-4B4C-B17D-767690E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89023-7E96-446B-8946-8A6655AE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FB30C-E876-4075-A48B-7615A40C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D044B-29DA-4FAC-BD51-A1178945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Normalize total cost and test feasible allocations.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2EF58-FBED-4BCC-B9C1-0B08A83A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577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3B6F6-12BA-453D-97B9-797B2282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33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F79D6-6048-4F05-BEF9-DE45E0F2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Commit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C5548-F897-43A4-9F39-F0F8BB19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Copy the plan and store its digest on Nile.</a:t>
            </a:r>
          </a:p>
        </p:txBody>
      </p:sp>
    </p:spTree>
    <p:extLst>
      <p:ext uri="{BB962C8B-B14F-4D97-AF65-F5344CB8AC3E}">
        <p14:creationId xmlns:p14="http://schemas.microsoft.com/office/powerpoint/2010/main" val="1113555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D1DDD9-C35B-4E3C-9C7C-D8791B49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02155-6D3F-41CC-BC2A-4E72E298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ENERGYDESK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1557B-6ACE-4A08-B18E-79EE8EA6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TECHNICAL HIGHLIGHTS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B636-D2E3-4950-8441-6EF45BE7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7436D-35E1-4A42-80FE-F113AEB9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ENERGYDESK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B28C5-9124-420E-A19A-E4E5E91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05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60481-A755-4086-B0CC-EFA3BD2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Procurement math stays inspectable.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9A170-7959-4CA4-B540-B28ABCA6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A compact architecture makes every trust boundary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9339E-9CEB-4B7F-BCED-224A69F4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E652C-697C-4FC1-8A3C-A2C04C1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Public quote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14F01-27F5-47D1-8D67-FD85BB5D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AD4BD-3AF8-400B-A0E1-4AC21695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9FA94-8651-4496-8C59-E995CFDD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Cost normalizer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CEBD8-B530-4C08-83CE-7E0E64D8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CAC19-F3EC-4DDC-B312-CBE6CF1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9F057-C159-440D-96C2-A716DF9C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Constraint planner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AF86C-A60C-4815-A188-D35E3070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73481-0F3B-407F-849B-4E69ED6E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38350"/>
            <a:ext cx="214312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8F224-F01E-4088-9AC3-B30751A0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1838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ReceiptRegistry on Nile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0DE8F-902B-47A6-95CE-6FE06F0C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23875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044B9-D29A-4171-A819-C76ACFB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WHY IT HOLDS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8CC36-242E-4408-A13F-E4E17E89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B3405-FAE5-4B9F-A12A-CAFDE3FF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Integer-safe Energy and TRX calculations with explicit budget reserve.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D5FEA-95FE-439F-B2B9-F68A9F8F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F29BCD-8E5A-4097-900A-3077C0AF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Quote timestamps and source labels remain attached to the decision.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9622B-44BE-4A5B-9296-D5FF4961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037DF-7C43-44B9-93A9-60F77E89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Independent Nile reads verify the committed receipt and runtime contract.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497F74-697F-4B9B-8A26-F61D185D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539115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7800f358b48e3"/>
          <a:srcRect xmlns:a="http://schemas.openxmlformats.org/drawingml/2006/main" l="8000" t="28000" r="8000" b="10000"/>
          <a:stretch xmlns:a="http://schemas.openxmlformats.org/drawingml/2006/main"/>
        </p:blipFill>
        <p:spPr>
          <a:xfrm xmlns:a="http://schemas.openxmlformats.org/drawingml/2006/main">
            <a:off x="6229350" y="3086100"/>
            <a:ext cx="5353050" cy="2686050"/>
          </a:xfrm>
          <a:prstGeom xmlns:a="http://schemas.openxmlformats.org/drawingml/2006/main" prst="roundRect">
            <a:avLst>
              <a:gd name="adj" fmla="val 5674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9BB3A1-B920-4EB2-9FB6-FE6F4C8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972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F078BB-D929-498C-9022-22144EBB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464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CONFIRMED · NILE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63ED73-FE6A-4F06-BCEA-9FCA052B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 receipt only · no rental transaction</a:t>
            </a:r>
          </a:p>
        </p:txBody>
      </p:sp>
    </p:spTree>
    <p:extLst>
      <p:ext uri="{BB962C8B-B14F-4D97-AF65-F5344CB8AC3E}">
        <p14:creationId xmlns:p14="http://schemas.microsoft.com/office/powerpoint/2010/main" val="214588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F168C7-D3D5-42C0-AE71-94B63EED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67BE2-A4D3-47BB-86D4-793060B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ENERGYDESK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ECEB-09FE-4963-A76D-F4272968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MARKET + COMPETITION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1D3C5-5253-4962-8459-FDE1D30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D7790-5AE9-44A5-B05A-8A1C9A90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ENERGYDESK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A1672-AF36-4902-8F61-1722870E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06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2DF38-9066-44B3-96AE-3F44EC48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 narrow wedge in an existing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4453A-5B0A-4EE1-B0A8-26FE30C6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A buyer-side decision layer across existing Energy suppliers.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72838-9B55-4F4C-B821-879749D4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952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213BB-AEAB-4DF8-8E09-AB64A792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PRIMARY 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89735-9164-4C1B-B49E-6FABB87C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TRON treasury and operations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4F86E-0A9F-4D84-AA47-FA277CA8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9527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707F2-B454-4AD9-850B-657BE0FB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BUYING 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9ED6A-0ACB-4715-86BE-E5FFC0E0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Each burst of contract calls, transfers or campaign traffic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66F06-08B4-4593-B11D-EA3C9E5E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24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CURRENT 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50AA7-A26D-4F44-8B45-68A5B46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WHAT IT DOES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D3906-974B-45B8-A697-0FF423E1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WHERE WE 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135AA-5A14-4F96-BE05-9A9CDA15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907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D882B-B880-4684-A995-9245E4BB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Single quote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7FFF9-FAB2-424D-A1F4-2FF46D21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526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Fast supplier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72524-9A97-46CC-8677-685613F4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526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No cross-source normalization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5C4FB-BFE9-4AE8-A66D-14A8B1EB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670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2B324-9744-41FA-B3E5-5348A55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Manual broker chat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A4C86-CE28-4DCC-9F98-1CE81E3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Human assistance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806A7-F9C7-426F-9219-648B5127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289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Weak reproducibility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9D6D5-8F95-44AA-894C-EA9E290D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433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3DC04-CC50-4AF4-AB4E-9A12E9D8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052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Spreadsheet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CD565-1E64-4172-82FA-10A678A0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05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Flexible calculations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11554-9544-4FF7-B78B-B692F21D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052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Stale inputs and no receipt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2D363-5C0F-488A-B9C9-1819B09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7E4738-B0E0-40B6-8DE6-0EBBC3D1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815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EnergyDesk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C7364-1788-4FE6-8AF5-DE13395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815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Comparable total cost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0B10F3-57F5-4DFD-9D6B-70400CC7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815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 evidence without lock-in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83D837-6568-4F77-AE38-A4E2D9C0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952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2CDA5D-F99D-46B6-B616-9FB0413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ENTRY WEDGE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C99360-2B39-4229-9056-CAFC10E4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buyer-side decision layer across existing Energy suppliers.</a:t>
            </a:r>
          </a:p>
        </p:txBody>
      </p:sp>
    </p:spTree>
    <p:extLst>
      <p:ext uri="{BB962C8B-B14F-4D97-AF65-F5344CB8AC3E}">
        <p14:creationId xmlns:p14="http://schemas.microsoft.com/office/powerpoint/2010/main" val="2059512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BC174D-681A-4BE4-A9DE-63274CB8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D3F4C-66A7-4ABB-970B-874BA5D9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ENERGYDESK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79F59-E023-41BF-BFA9-02CBF57C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3BED8-143A-4070-B110-B2E38DAA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6818D-BB34-4B43-A052-C9D27B31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ENERGYDESK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EE506-025D-48EB-A3D1-9E2A609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07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C98AA-670C-44B1-B710-6C17DCE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Ship the missing proof, then scale.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4D4F5-AB43-452C-8788-B46244A6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The next milestone closes the current evidence gap before expanding product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80419-C647-4CE0-B56B-1E6B806D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F920C-8377-4CC0-A9B1-127C82E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00170-EF65-48A9-8F3D-12039EE0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WORKING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DC321-0DC8-4E54-9F59-645C1C48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42352-816C-4282-90A5-993DFB6C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live quote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BE093-FBA4-4A88-86C8-C507BEB6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E07C8-B5ED-46FC-BF18-A27FD019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Constraint-based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97E62-E4B2-40C4-9559-C35C2EDF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28BD0-9A2A-4DA8-A70C-E0C6D9F8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Nile plan 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D24FB-3378-4FA3-9B2A-FF6EEF30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FFA0D-F593-4C20-B082-C74B47D6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6F4E7-0EF2-4E13-831D-6EC43AD5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EVIDENCE MILESTONE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CD861-92E0-4109-AA73-B8EA4DC7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B32A9-72EE-4515-BEB7-CD23377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Provider order adapters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C63BA-C179-429A-A516-BC5FFF6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A6E72-8CF1-431E-AEFD-0D741621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Quote-expiry enforcement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3D71F-07CA-48C5-A1C5-610A5AE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57E4F-9149-4DAD-B56B-39655145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Post-order delivery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2D21D-BEB1-4590-9C28-C1CB8A5F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7AE2A-2EF1-4F95-8219-4ECB6452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7E3CB-7126-446B-8E23-6074BE0D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PRODUCT EXPANSION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16070-9D45-43CA-A521-30E9E55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3D02A4-3953-4C91-9D57-AD3E5F67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Treasury policy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70D0C-0636-4CB9-A65A-C762B11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2E0C26-4E2F-4858-B38C-182F0B7A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Historical price benchmarks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3421DE-947F-42F2-A4AE-6117595F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36B351-55E4-40B1-AD4A-C6C672ED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Automated renewal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B7198-BF66-4013-B220-8CE526D6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918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9DF83E-B00D-4984-B126-33160C1B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TRUTHFUL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721547-54AA-4A0B-944C-68C3913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38775"/>
            <a:ext cx="849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Today: real market inputs + real Nile commitment. Energy fulfillment is not executed.</a:t>
            </a:r>
          </a:p>
        </p:txBody>
      </p:sp>
    </p:spTree>
    <p:extLst>
      <p:ext uri="{BB962C8B-B14F-4D97-AF65-F5344CB8AC3E}">
        <p14:creationId xmlns:p14="http://schemas.microsoft.com/office/powerpoint/2010/main" val="1422604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2026-09-29T14:58:19.8050000Z</dcterms:created>
  <dcterms:modified xsi:type="dcterms:W3CDTF">2026-09-29T14:58:19.8050000Z</dcterms:modified>
</coreProperties>
</file>